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34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778240" y="548640"/>
            <a:ext cx="2103120" cy="2103120"/>
          </a:xfrm>
          <a:prstGeom prst="ellipse">
            <a:avLst/>
          </a:prstGeom>
          <a:solidFill>
            <a:srgbClr val="2D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1920240"/>
            <a:ext cx="1280160" cy="1280160"/>
          </a:xfrm>
          <a:prstGeom prst="ellipse">
            <a:avLst/>
          </a:prstGeom>
          <a:solidFill>
            <a:srgbClr val="23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955279" y="2743200"/>
            <a:ext cx="914400" cy="914400"/>
          </a:xfrm>
          <a:prstGeom prst="ellipse">
            <a:avLst/>
          </a:prstGeom>
          <a:solidFill>
            <a:srgbClr val="EBB0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332720" y="4023360"/>
            <a:ext cx="1463040" cy="1463040"/>
          </a:xfrm>
          <a:prstGeom prst="ellipse">
            <a:avLst/>
          </a:prstGeom>
          <a:solidFill>
            <a:srgbClr val="2D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0080"/>
            <a:ext cx="6949440" cy="320040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r>
              <a:rPr sz="1300" b="1">
                <a:solidFill>
                  <a:srgbClr val="EBB041"/>
                </a:solidFill>
                <a:latin typeface="Aptos"/>
              </a:rPr>
              <a:t>MACHINE LEARNING • REGRESSION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508760"/>
            <a:ext cx="7498079" cy="1463040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r>
              <a:rPr sz="3400" b="1">
                <a:solidFill>
                  <a:srgbClr val="FFFFFF"/>
                </a:solidFill>
                <a:latin typeface="Aptos"/>
              </a:rPr>
              <a:t>NYC Uber Fare
Prediction Pipeline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246120"/>
            <a:ext cx="6675120" cy="731520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r>
              <a:rPr sz="1900" b="0">
                <a:solidFill>
                  <a:srgbClr val="D2DCEB"/>
                </a:solidFill>
                <a:latin typeface="Aptos"/>
              </a:rPr>
              <a:t>Task 2: From Clean EDA to a Model-Ready Dataset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4160520"/>
            <a:ext cx="914400" cy="64008"/>
          </a:xfrm>
          <a:prstGeom prst="rect">
            <a:avLst/>
          </a:prstGeom>
          <a:solidFill>
            <a:srgbClr val="23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4480560"/>
            <a:ext cx="6675120" cy="502920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r>
              <a:rPr sz="1400" b="0">
                <a:solidFill>
                  <a:srgbClr val="FFFFFF"/>
                </a:solidFill>
                <a:latin typeface="Aptos"/>
              </a:rPr>
              <a:t>Preparing data, engineering features, and evaluating regression models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6080760"/>
            <a:ext cx="5486400" cy="274320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r>
              <a:rPr sz="1000" b="0">
                <a:solidFill>
                  <a:srgbClr val="B9C3D2"/>
                </a:solidFill>
                <a:latin typeface="Aptos"/>
              </a:rPr>
              <a:t>Based on the Task2 Jupyter Notebook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r>
              <a:rPr sz="1000" b="1">
                <a:solidFill>
                  <a:srgbClr val="239B91"/>
                </a:solidFill>
                <a:latin typeface="Aptos"/>
              </a:rPr>
              <a:t>01 •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85800"/>
            <a:ext cx="10972800" cy="594360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r>
              <a:rPr sz="2800" b="1">
                <a:solidFill>
                  <a:srgbClr val="142341"/>
                </a:solidFill>
                <a:latin typeface="Aptos"/>
              </a:rPr>
              <a:t>Project objective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53312"/>
            <a:ext cx="822960" cy="54864"/>
          </a:xfrm>
          <a:prstGeom prst="rect">
            <a:avLst/>
          </a:prstGeom>
          <a:solidFill>
            <a:srgbClr val="23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691640"/>
            <a:ext cx="10515600" cy="731520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r>
              <a:rPr sz="2300" b="1">
                <a:solidFill>
                  <a:srgbClr val="142341"/>
                </a:solidFill>
                <a:latin typeface="Aptos"/>
              </a:rPr>
              <a:t>Goal: predict the taxi fare amount for a NYC trip using trip-related information.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743200"/>
            <a:ext cx="3429000" cy="2057400"/>
          </a:xfrm>
          <a:prstGeom prst="roundRect">
            <a:avLst/>
          </a:prstGeom>
          <a:solidFill>
            <a:srgbClr val="EFF4FA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743200"/>
            <a:ext cx="73152" cy="2057400"/>
          </a:xfrm>
          <a:prstGeom prst="rect">
            <a:avLst/>
          </a:prstGeom>
          <a:solidFill>
            <a:srgbClr val="23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8408" y="2907792"/>
            <a:ext cx="3063240" cy="347472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r>
              <a:rPr sz="1700" b="1">
                <a:solidFill>
                  <a:srgbClr val="142341"/>
                </a:solidFill>
                <a:latin typeface="Aptos"/>
              </a:rPr>
              <a:t>Input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" y="3355848"/>
            <a:ext cx="3063240" cy="1325880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r>
              <a:rPr sz="1300" b="0">
                <a:solidFill>
                  <a:srgbClr val="2D3441"/>
                </a:solidFill>
                <a:latin typeface="Aptos"/>
              </a:rPr>
              <a:t>Distance, pickup/drop-off coordinates, time, passenger count, and trip conditions.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2743200"/>
            <a:ext cx="3429000" cy="2057400"/>
          </a:xfrm>
          <a:prstGeom prst="roundRect">
            <a:avLst/>
          </a:prstGeom>
          <a:solidFill>
            <a:srgbClr val="EFF4FA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2743200"/>
            <a:ext cx="73152" cy="2057400"/>
          </a:xfrm>
          <a:prstGeom prst="rect">
            <a:avLst/>
          </a:prstGeom>
          <a:solidFill>
            <a:srgbClr val="2D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0288" y="2907792"/>
            <a:ext cx="3063240" cy="347472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r>
              <a:rPr sz="1700" b="1">
                <a:solidFill>
                  <a:srgbClr val="142341"/>
                </a:solidFill>
                <a:latin typeface="Aptos"/>
              </a:rPr>
              <a:t>Target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0288" y="3355848"/>
            <a:ext cx="3063240" cy="1325880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r>
              <a:rPr sz="1300" b="0">
                <a:solidFill>
                  <a:srgbClr val="2D3441"/>
                </a:solidFill>
                <a:latin typeface="Aptos"/>
              </a:rPr>
              <a:t>fare_amount — a continuous numeric value, so this is a regression task.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01000" y="2743200"/>
            <a:ext cx="3429000" cy="2057400"/>
          </a:xfrm>
          <a:prstGeom prst="roundRect">
            <a:avLst/>
          </a:prstGeom>
          <a:solidFill>
            <a:srgbClr val="EFF4FA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01000" y="2743200"/>
            <a:ext cx="73152" cy="2057400"/>
          </a:xfrm>
          <a:prstGeom prst="rect">
            <a:avLst/>
          </a:prstGeom>
          <a:solidFill>
            <a:srgbClr val="EBB0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2168" y="2907792"/>
            <a:ext cx="3063240" cy="347472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r>
              <a:rPr sz="1700" b="1">
                <a:solidFill>
                  <a:srgbClr val="142341"/>
                </a:solidFill>
                <a:latin typeface="Aptos"/>
              </a:rPr>
              <a:t>Final deliverable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02168" y="3355848"/>
            <a:ext cx="3063240" cy="1325880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r>
              <a:rPr sz="1300" b="0">
                <a:solidFill>
                  <a:srgbClr val="2D3441"/>
                </a:solidFill>
                <a:latin typeface="Aptos"/>
              </a:rPr>
              <a:t>A trained pipeline that includes preprocessing, feature selection, and the tuned model.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303520"/>
            <a:ext cx="10424160" cy="502920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r>
              <a:rPr sz="1600" b="0">
                <a:solidFill>
                  <a:srgbClr val="646E7D"/>
                </a:solidFill>
                <a:latin typeface="Aptos"/>
              </a:rPr>
              <a:t>The workflow follows the 10 required data-preparation and modeling steps.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r>
              <a:rPr sz="1000" b="1">
                <a:solidFill>
                  <a:srgbClr val="239B91"/>
                </a:solidFill>
                <a:latin typeface="Aptos"/>
              </a:rPr>
              <a:t>02 • PREPARATION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85800"/>
            <a:ext cx="10972800" cy="594360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r>
              <a:rPr sz="2800" b="1">
                <a:solidFill>
                  <a:srgbClr val="142341"/>
                </a:solidFill>
                <a:latin typeface="Aptos"/>
              </a:rPr>
              <a:t>Dataset and data cleaning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53312"/>
            <a:ext cx="822960" cy="54864"/>
          </a:xfrm>
          <a:prstGeom prst="rect">
            <a:avLst/>
          </a:prstGeom>
          <a:solidFill>
            <a:srgbClr val="23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1737360"/>
            <a:ext cx="3383280" cy="1508760"/>
          </a:xfrm>
          <a:prstGeom prst="roundRect">
            <a:avLst/>
          </a:prstGeom>
          <a:solidFill>
            <a:srgbClr val="EFF4FA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37360"/>
            <a:ext cx="73152" cy="1508760"/>
          </a:xfrm>
          <a:prstGeom prst="rect">
            <a:avLst/>
          </a:prstGeom>
          <a:solidFill>
            <a:srgbClr val="23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8408" y="1901952"/>
            <a:ext cx="3017520" cy="347472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r>
              <a:rPr sz="1700" b="1">
                <a:solidFill>
                  <a:srgbClr val="142341"/>
                </a:solidFill>
                <a:latin typeface="Aptos"/>
              </a:rPr>
              <a:t>Starting dataset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8408" y="2350008"/>
            <a:ext cx="3017520" cy="777239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r>
              <a:rPr sz="1300" b="0">
                <a:solidFill>
                  <a:srgbClr val="2D3441"/>
                </a:solidFill>
                <a:latin typeface="Aptos"/>
              </a:rPr>
              <a:t>500,000 rows • 26 columns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737360"/>
            <a:ext cx="3383280" cy="1508760"/>
          </a:xfrm>
          <a:prstGeom prst="roundRect">
            <a:avLst/>
          </a:prstGeom>
          <a:solidFill>
            <a:srgbClr val="EFF4FA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1737360"/>
            <a:ext cx="73152" cy="1508760"/>
          </a:xfrm>
          <a:prstGeom prst="rect">
            <a:avLst/>
          </a:prstGeom>
          <a:solidFill>
            <a:srgbClr val="2D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0288" y="1901952"/>
            <a:ext cx="3017520" cy="347472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r>
              <a:rPr sz="1700" b="1">
                <a:solidFill>
                  <a:srgbClr val="142341"/>
                </a:solidFill>
                <a:latin typeface="Aptos"/>
              </a:rPr>
              <a:t>After standardization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0288" y="2350008"/>
            <a:ext cx="3017520" cy="777239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r>
              <a:rPr sz="1300" b="0">
                <a:solidFill>
                  <a:srgbClr val="2D3441"/>
                </a:solidFill>
                <a:latin typeface="Aptos"/>
              </a:rPr>
              <a:t>Column names cleaned; ID-only columns removed.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01000" y="1737360"/>
            <a:ext cx="3383280" cy="1508760"/>
          </a:xfrm>
          <a:prstGeom prst="roundRect">
            <a:avLst/>
          </a:prstGeom>
          <a:solidFill>
            <a:srgbClr val="EFF4FA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01000" y="1737360"/>
            <a:ext cx="73152" cy="1508760"/>
          </a:xfrm>
          <a:prstGeom prst="rect">
            <a:avLst/>
          </a:prstGeom>
          <a:solidFill>
            <a:srgbClr val="EBB0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02168" y="1901952"/>
            <a:ext cx="3017520" cy="347472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r>
              <a:rPr sz="1700" b="1">
                <a:solidFill>
                  <a:srgbClr val="142341"/>
                </a:solidFill>
                <a:latin typeface="Aptos"/>
              </a:rPr>
              <a:t>After cleaning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02168" y="2350008"/>
            <a:ext cx="3017520" cy="777239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r>
              <a:rPr sz="1300" b="0">
                <a:solidFill>
                  <a:srgbClr val="2D3441"/>
                </a:solidFill>
                <a:latin typeface="Aptos"/>
              </a:rPr>
              <a:t>479,944 rows retained (96.0% of original).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3703320"/>
            <a:ext cx="5120640" cy="365760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r>
              <a:rPr sz="1800" b="1">
                <a:solidFill>
                  <a:srgbClr val="142341"/>
                </a:solidFill>
                <a:latin typeface="Aptos"/>
              </a:rPr>
              <a:t>Invalid records removed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114800"/>
            <a:ext cx="5303520" cy="19202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2D3441"/>
                </a:solidFill>
                <a:latin typeface="Aptos"/>
              </a:defRPr>
            </a:pPr>
            <a:r>
              <a:t>Missing-value rows (dropna)</a:t>
            </a:r>
          </a:p>
          <a:p>
            <a:pPr>
              <a:spcAft>
                <a:spcPts val="500"/>
              </a:spcAft>
              <a:defRPr sz="1500">
                <a:solidFill>
                  <a:srgbClr val="2D3441"/>
                </a:solidFill>
                <a:latin typeface="Aptos"/>
              </a:defRPr>
            </a:pPr>
            <a:r>
              <a:t>Fares outside $2.50–$100</a:t>
            </a:r>
          </a:p>
          <a:p>
            <a:pPr>
              <a:spcAft>
                <a:spcPts val="500"/>
              </a:spcAft>
              <a:defRPr sz="1500">
                <a:solidFill>
                  <a:srgbClr val="2D3441"/>
                </a:solidFill>
                <a:latin typeface="Aptos"/>
              </a:defRPr>
            </a:pPr>
            <a:r>
              <a:t>Passenger counts outside 1–6</a:t>
            </a:r>
          </a:p>
          <a:p>
            <a:pPr>
              <a:spcAft>
                <a:spcPts val="500"/>
              </a:spcAft>
              <a:defRPr sz="1500">
                <a:solidFill>
                  <a:srgbClr val="2D3441"/>
                </a:solidFill>
                <a:latin typeface="Aptos"/>
              </a:defRPr>
            </a:pPr>
            <a:r>
              <a:t>Trips shorter than 0.05 km</a:t>
            </a:r>
          </a:p>
          <a:p>
            <a:pPr>
              <a:spcAft>
                <a:spcPts val="500"/>
              </a:spcAft>
              <a:defRPr sz="1500">
                <a:solidFill>
                  <a:srgbClr val="2D3441"/>
                </a:solidFill>
                <a:latin typeface="Aptos"/>
              </a:defRPr>
            </a:pPr>
            <a:r>
              <a:t>Pickup/drop-off coordinates outside the NYC bounding box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3703320"/>
            <a:ext cx="4572000" cy="365760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r>
              <a:rPr sz="1800" b="1">
                <a:solidFill>
                  <a:srgbClr val="142341"/>
                </a:solidFill>
                <a:latin typeface="Aptos"/>
              </a:rPr>
              <a:t>Duplicate checks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4114800"/>
            <a:ext cx="4846320" cy="1645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D3441"/>
                </a:solidFill>
                <a:latin typeface="Aptos"/>
              </a:defRPr>
            </a:pPr>
            <a:r>
              <a:t>Exact duplicate rows: 0</a:t>
            </a:r>
          </a:p>
          <a:p>
            <a:pPr>
              <a:spcAft>
                <a:spcPts val="800"/>
              </a:spcAft>
              <a:defRPr sz="1500">
                <a:solidFill>
                  <a:srgbClr val="2D3441"/>
                </a:solidFill>
                <a:latin typeface="Aptos"/>
              </a:defRPr>
            </a:pPr>
            <a:r>
              <a:t>Duplicate trip keys: 0</a:t>
            </a:r>
          </a:p>
          <a:p>
            <a:pPr>
              <a:spcAft>
                <a:spcPts val="800"/>
              </a:spcAft>
              <a:defRPr sz="1500">
                <a:solidFill>
                  <a:srgbClr val="2D3441"/>
                </a:solidFill>
                <a:latin typeface="Aptos"/>
              </a:defRPr>
            </a:pPr>
            <a:r>
              <a:t>The trip key was then removed because it was only needed for duplicate checking.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r>
              <a:rPr sz="1000" b="1">
                <a:solidFill>
                  <a:srgbClr val="239B91"/>
                </a:solidFill>
                <a:latin typeface="Aptos"/>
              </a:rPr>
              <a:t>03 • PREPROCESSING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85800"/>
            <a:ext cx="10972800" cy="594360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r>
              <a:rPr sz="2800" b="1">
                <a:solidFill>
                  <a:srgbClr val="142341"/>
                </a:solidFill>
                <a:latin typeface="Aptos"/>
              </a:rPr>
              <a:t>Encoding and feature scaling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53312"/>
            <a:ext cx="822960" cy="54864"/>
          </a:xfrm>
          <a:prstGeom prst="rect">
            <a:avLst/>
          </a:prstGeom>
          <a:solidFill>
            <a:srgbClr val="23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1737360"/>
            <a:ext cx="5074920" cy="1828800"/>
          </a:xfrm>
          <a:prstGeom prst="roundRect">
            <a:avLst/>
          </a:prstGeom>
          <a:solidFill>
            <a:srgbClr val="EFF4FA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37360"/>
            <a:ext cx="73152" cy="1828800"/>
          </a:xfrm>
          <a:prstGeom prst="rect">
            <a:avLst/>
          </a:prstGeom>
          <a:solidFill>
            <a:srgbClr val="23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8408" y="1901952"/>
            <a:ext cx="4709159" cy="347472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r>
              <a:rPr sz="1700" b="1">
                <a:solidFill>
                  <a:srgbClr val="142341"/>
                </a:solidFill>
                <a:latin typeface="Aptos"/>
              </a:rPr>
              <a:t>Ordinal encoding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8408" y="2350008"/>
            <a:ext cx="4709159" cy="1097280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r>
              <a:rPr sz="1300" b="0">
                <a:solidFill>
                  <a:srgbClr val="2D3441"/>
                </a:solidFill>
                <a:latin typeface="Aptos"/>
              </a:rPr>
              <a:t>Car condition: Bad → 0, Good → 1, Very Good → 2, Excellent → 3.
Traffic condition: Flow → 0, Dense → 1, Congested → 2.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737360"/>
            <a:ext cx="5074920" cy="1828800"/>
          </a:xfrm>
          <a:prstGeom prst="roundRect">
            <a:avLst/>
          </a:prstGeom>
          <a:solidFill>
            <a:srgbClr val="EFF4FA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63640" y="1737360"/>
            <a:ext cx="73152" cy="1828800"/>
          </a:xfrm>
          <a:prstGeom prst="rect">
            <a:avLst/>
          </a:prstGeom>
          <a:solidFill>
            <a:srgbClr val="2D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64807" y="1901952"/>
            <a:ext cx="4709159" cy="347472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r>
              <a:rPr sz="1700" b="1">
                <a:solidFill>
                  <a:srgbClr val="142341"/>
                </a:solidFill>
                <a:latin typeface="Aptos"/>
              </a:rPr>
              <a:t>One-hot encoding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64807" y="2350008"/>
            <a:ext cx="4709159" cy="1097280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r>
              <a:rPr sz="1300" b="0">
                <a:solidFill>
                  <a:srgbClr val="2D3441"/>
                </a:solidFill>
                <a:latin typeface="Aptos"/>
              </a:rPr>
              <a:t>Weather has no natural order, so it is represented by separate binary columns instead of assigning a misleading rank.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069080"/>
            <a:ext cx="10241280" cy="411480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r>
              <a:rPr sz="1900" b="1">
                <a:solidFill>
                  <a:srgbClr val="142341"/>
                </a:solidFill>
                <a:latin typeface="Aptos"/>
              </a:rPr>
              <a:t>Scaling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526280"/>
            <a:ext cx="10332720" cy="822960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r>
              <a:rPr sz="1700" b="0">
                <a:solidFill>
                  <a:srgbClr val="2D3441"/>
                </a:solidFill>
                <a:latin typeface="Aptos"/>
              </a:rPr>
              <a:t>StandardScaler is applied to selected numeric features inside the preprocessing pipeline. The scaler is fitted on training data only, then applied to validation/test data.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5623560"/>
            <a:ext cx="10332720" cy="502920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r>
              <a:rPr sz="1400" b="0">
                <a:solidFill>
                  <a:srgbClr val="646E7D"/>
                </a:solidFill>
                <a:latin typeface="Aptos"/>
              </a:rPr>
              <a:t>Keeping preprocessing inside the pipeline helps prevent data leakage.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r>
              <a:rPr sz="1000" b="1">
                <a:solidFill>
                  <a:srgbClr val="239B91"/>
                </a:solidFill>
                <a:latin typeface="Aptos"/>
              </a:rPr>
              <a:t>04 • CREATING USEFUL SIGNALS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85800"/>
            <a:ext cx="10972800" cy="594360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r>
              <a:rPr sz="2800" b="1">
                <a:solidFill>
                  <a:srgbClr val="142341"/>
                </a:solidFill>
                <a:latin typeface="Aptos"/>
              </a:rPr>
              <a:t>Feature engineering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53312"/>
            <a:ext cx="822960" cy="54864"/>
          </a:xfrm>
          <a:prstGeom prst="rect">
            <a:avLst/>
          </a:prstGeom>
          <a:solidFill>
            <a:srgbClr val="23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1737360"/>
            <a:ext cx="3429000" cy="2057400"/>
          </a:xfrm>
          <a:prstGeom prst="roundRect">
            <a:avLst/>
          </a:prstGeom>
          <a:solidFill>
            <a:srgbClr val="EFF4FA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37360"/>
            <a:ext cx="73152" cy="2057400"/>
          </a:xfrm>
          <a:prstGeom prst="rect">
            <a:avLst/>
          </a:prstGeom>
          <a:solidFill>
            <a:srgbClr val="23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8408" y="1901952"/>
            <a:ext cx="3063240" cy="347472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r>
              <a:rPr sz="1700" b="1">
                <a:solidFill>
                  <a:srgbClr val="142341"/>
                </a:solidFill>
                <a:latin typeface="Aptos"/>
              </a:rPr>
              <a:t>Cyclical time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8408" y="2350008"/>
            <a:ext cx="3063240" cy="1325880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r>
              <a:rPr sz="1300" b="0">
                <a:solidFill>
                  <a:srgbClr val="2D3441"/>
                </a:solidFill>
                <a:latin typeface="Aptos"/>
              </a:rPr>
              <a:t>hour_sin and hour_cos represent the 24-hour clock as a cycle, so 23:00 and 00:00 are treated as close together.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737360"/>
            <a:ext cx="3429000" cy="2057400"/>
          </a:xfrm>
          <a:prstGeom prst="roundRect">
            <a:avLst/>
          </a:prstGeom>
          <a:solidFill>
            <a:srgbClr val="EFF4FA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1737360"/>
            <a:ext cx="73152" cy="2057400"/>
          </a:xfrm>
          <a:prstGeom prst="rect">
            <a:avLst/>
          </a:prstGeom>
          <a:solidFill>
            <a:srgbClr val="23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0288" y="1901952"/>
            <a:ext cx="3063240" cy="347472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r>
              <a:rPr sz="1700" b="1">
                <a:solidFill>
                  <a:srgbClr val="142341"/>
                </a:solidFill>
                <a:latin typeface="Aptos"/>
              </a:rPr>
              <a:t>Weekend flag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0288" y="2350008"/>
            <a:ext cx="3063240" cy="1325880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r>
              <a:rPr sz="1300" b="0">
                <a:solidFill>
                  <a:srgbClr val="2D3441"/>
                </a:solidFill>
                <a:latin typeface="Aptos"/>
              </a:rPr>
              <a:t>is_weekend marks whether a trip occurs on a weekend.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01000" y="1737360"/>
            <a:ext cx="3429000" cy="2057400"/>
          </a:xfrm>
          <a:prstGeom prst="roundRect">
            <a:avLst/>
          </a:prstGeom>
          <a:solidFill>
            <a:srgbClr val="EFF4FA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01000" y="1737360"/>
            <a:ext cx="73152" cy="2057400"/>
          </a:xfrm>
          <a:prstGeom prst="rect">
            <a:avLst/>
          </a:prstGeom>
          <a:solidFill>
            <a:srgbClr val="EBB0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02168" y="1901952"/>
            <a:ext cx="3063240" cy="347472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r>
              <a:rPr sz="1700" b="1">
                <a:solidFill>
                  <a:srgbClr val="142341"/>
                </a:solidFill>
                <a:latin typeface="Aptos"/>
              </a:rPr>
              <a:t>Airport proximity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02168" y="2350008"/>
            <a:ext cx="3063240" cy="1325880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r>
              <a:rPr sz="1300" b="0">
                <a:solidFill>
                  <a:srgbClr val="2D3441"/>
                </a:solidFill>
                <a:latin typeface="Aptos"/>
              </a:rPr>
              <a:t>Recalculate distance to JFK and add distance to LGA; is_near_airport flags pickups within 2 km of either airport.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343400"/>
            <a:ext cx="10515600" cy="685800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r>
              <a:rPr sz="1800" b="1">
                <a:solidFill>
                  <a:srgbClr val="142341"/>
                </a:solidFill>
                <a:latin typeface="Aptos"/>
              </a:rPr>
              <a:t>Why this matters: engineered features can express patterns that raw columns do not represent as clearly.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212080"/>
            <a:ext cx="10515600" cy="548640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r>
              <a:rPr sz="1500" b="0">
                <a:solidFill>
                  <a:srgbClr val="646E7D"/>
                </a:solidFill>
                <a:latin typeface="Aptos"/>
              </a:rPr>
              <a:t>The notebook also drops redundant or unreliable distance/bearing columns and keeps a selected set of model features.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r>
              <a:rPr sz="1000" b="1">
                <a:solidFill>
                  <a:srgbClr val="239B91"/>
                </a:solidFill>
                <a:latin typeface="Aptos"/>
              </a:rPr>
              <a:t>05 • IMPROVING SIGNAL QUALITY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85800"/>
            <a:ext cx="10972800" cy="594360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r>
              <a:rPr sz="2800" b="1">
                <a:solidFill>
                  <a:srgbClr val="142341"/>
                </a:solidFill>
                <a:latin typeface="Aptos"/>
              </a:rPr>
              <a:t>Feature selection and outlier treatment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53312"/>
            <a:ext cx="822960" cy="54864"/>
          </a:xfrm>
          <a:prstGeom prst="rect">
            <a:avLst/>
          </a:prstGeom>
          <a:solidFill>
            <a:srgbClr val="23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5074920" cy="2286000"/>
          </a:xfrm>
          <a:prstGeom prst="roundRect">
            <a:avLst/>
          </a:prstGeom>
          <a:solidFill>
            <a:srgbClr val="EFF4FA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73152" cy="2286000"/>
          </a:xfrm>
          <a:prstGeom prst="rect">
            <a:avLst/>
          </a:prstGeom>
          <a:solidFill>
            <a:srgbClr val="23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8408" y="1947672"/>
            <a:ext cx="4709159" cy="347472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r>
              <a:rPr sz="1700" b="1">
                <a:solidFill>
                  <a:srgbClr val="142341"/>
                </a:solidFill>
                <a:latin typeface="Aptos"/>
              </a:rPr>
              <a:t>Manual feature selection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8408" y="2395728"/>
            <a:ext cx="4709159" cy="1554480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r>
              <a:rPr sz="1300" b="0">
                <a:solidFill>
                  <a:srgbClr val="2D3441"/>
                </a:solidFill>
                <a:latin typeface="Aptos"/>
              </a:rPr>
              <a:t>Drops unreliable or redundant airport-distance columns and bearing. Uses recomputed JFK/LGA distances instead.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783080"/>
            <a:ext cx="5074920" cy="2286000"/>
          </a:xfrm>
          <a:prstGeom prst="roundRect">
            <a:avLst/>
          </a:prstGeom>
          <a:solidFill>
            <a:srgbClr val="EFF4FA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63640" y="1783080"/>
            <a:ext cx="73152" cy="2286000"/>
          </a:xfrm>
          <a:prstGeom prst="rect">
            <a:avLst/>
          </a:prstGeom>
          <a:solidFill>
            <a:srgbClr val="2D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64807" y="1947672"/>
            <a:ext cx="4709159" cy="347472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r>
              <a:rPr sz="1700" b="1">
                <a:solidFill>
                  <a:srgbClr val="142341"/>
                </a:solidFill>
                <a:latin typeface="Aptos"/>
              </a:rPr>
              <a:t>Automatic feature selection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64807" y="2395728"/>
            <a:ext cx="4709159" cy="1554480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r>
              <a:rPr sz="1300" b="0">
                <a:solidFill>
                  <a:srgbClr val="2D3441"/>
                </a:solidFill>
                <a:latin typeface="Aptos"/>
              </a:rPr>
              <a:t>SelectFromModel with Lasso selects useful features within the pipeline before the final Ridge regression model.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480560"/>
            <a:ext cx="10424160" cy="411480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r>
              <a:rPr sz="1900" b="1">
                <a:solidFill>
                  <a:srgbClr val="142341"/>
                </a:solidFill>
                <a:latin typeface="Aptos"/>
              </a:rPr>
              <a:t>Outlier strategy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892040"/>
            <a:ext cx="10515600" cy="11887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2D3441"/>
                </a:solidFill>
                <a:latin typeface="Aptos"/>
              </a:defRPr>
            </a:pPr>
            <a:r>
              <a:t>Invalid records are removed during cleaning.</a:t>
            </a:r>
          </a:p>
          <a:p>
            <a:pPr>
              <a:spcAft>
                <a:spcPts val="500"/>
              </a:spcAft>
              <a:defRPr sz="1500">
                <a:solidFill>
                  <a:srgbClr val="2D3441"/>
                </a:solidFill>
                <a:latin typeface="Aptos"/>
              </a:defRPr>
            </a:pPr>
            <a:r>
              <a:t>Valid but rare long trips and airport fares are retained.</a:t>
            </a:r>
          </a:p>
          <a:p>
            <a:pPr>
              <a:spcAft>
                <a:spcPts val="500"/>
              </a:spcAft>
              <a:defRPr sz="1500">
                <a:solidFill>
                  <a:srgbClr val="2D3441"/>
                </a:solidFill>
                <a:latin typeface="Aptos"/>
              </a:defRPr>
            </a:pPr>
            <a:r>
              <a:t>A Winsorizer caps extreme distance values using quantiles learned from training data only.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r>
              <a:rPr sz="1000" b="1">
                <a:solidFill>
                  <a:srgbClr val="239B91"/>
                </a:solidFill>
                <a:latin typeface="Aptos"/>
              </a:rPr>
              <a:t>06 • RELIABLE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85800"/>
            <a:ext cx="10972800" cy="594360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r>
              <a:rPr sz="2800" b="1">
                <a:solidFill>
                  <a:srgbClr val="142341"/>
                </a:solidFill>
                <a:latin typeface="Aptos"/>
              </a:rPr>
              <a:t>Training and evaluation strategy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53312"/>
            <a:ext cx="822960" cy="54864"/>
          </a:xfrm>
          <a:prstGeom prst="rect">
            <a:avLst/>
          </a:prstGeom>
          <a:solidFill>
            <a:srgbClr val="23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1737360"/>
            <a:ext cx="3429000" cy="1965960"/>
          </a:xfrm>
          <a:prstGeom prst="roundRect">
            <a:avLst/>
          </a:prstGeom>
          <a:solidFill>
            <a:srgbClr val="EFF4FA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37360"/>
            <a:ext cx="73152" cy="1965960"/>
          </a:xfrm>
          <a:prstGeom prst="rect">
            <a:avLst/>
          </a:prstGeom>
          <a:solidFill>
            <a:srgbClr val="23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8408" y="1901952"/>
            <a:ext cx="3063240" cy="347472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r>
              <a:rPr sz="1700" b="1">
                <a:solidFill>
                  <a:srgbClr val="142341"/>
                </a:solidFill>
                <a:latin typeface="Aptos"/>
              </a:rPr>
              <a:t>Train/test split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8408" y="2350008"/>
            <a:ext cx="3063240" cy="1234439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r>
              <a:rPr sz="1300" b="0">
                <a:solidFill>
                  <a:srgbClr val="2D3441"/>
                </a:solidFill>
                <a:latin typeface="Aptos"/>
              </a:rPr>
              <a:t>80% training
20% testing
383,955 train rows
95,989 test rows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737360"/>
            <a:ext cx="3429000" cy="1965960"/>
          </a:xfrm>
          <a:prstGeom prst="roundRect">
            <a:avLst/>
          </a:prstGeom>
          <a:solidFill>
            <a:srgbClr val="EFF4FA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1737360"/>
            <a:ext cx="73152" cy="1965960"/>
          </a:xfrm>
          <a:prstGeom prst="rect">
            <a:avLst/>
          </a:prstGeom>
          <a:solidFill>
            <a:srgbClr val="2D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0288" y="1901952"/>
            <a:ext cx="3063240" cy="347472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r>
              <a:rPr sz="1700" b="1">
                <a:solidFill>
                  <a:srgbClr val="142341"/>
                </a:solidFill>
                <a:latin typeface="Aptos"/>
              </a:rPr>
              <a:t>5-fold cross-validation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0288" y="2350008"/>
            <a:ext cx="3063240" cy="1234439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r>
              <a:rPr sz="1300" b="0">
                <a:solidFill>
                  <a:srgbClr val="2D3441"/>
                </a:solidFill>
                <a:latin typeface="Aptos"/>
              </a:rPr>
              <a:t>Training data is split into five folds to estimate model performance more reliably.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01000" y="1737360"/>
            <a:ext cx="3429000" cy="1965960"/>
          </a:xfrm>
          <a:prstGeom prst="roundRect">
            <a:avLst/>
          </a:prstGeom>
          <a:solidFill>
            <a:srgbClr val="EFF4FA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01000" y="1737360"/>
            <a:ext cx="73152" cy="1965960"/>
          </a:xfrm>
          <a:prstGeom prst="rect">
            <a:avLst/>
          </a:prstGeom>
          <a:solidFill>
            <a:srgbClr val="EBB0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02168" y="1901952"/>
            <a:ext cx="3063240" cy="347472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r>
              <a:rPr sz="1700" b="1">
                <a:solidFill>
                  <a:srgbClr val="142341"/>
                </a:solidFill>
                <a:latin typeface="Aptos"/>
              </a:rPr>
              <a:t>Avoid leakage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02168" y="2350008"/>
            <a:ext cx="3063240" cy="1234439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r>
              <a:rPr sz="1300" b="0">
                <a:solidFill>
                  <a:srgbClr val="2D3441"/>
                </a:solidFill>
                <a:latin typeface="Aptos"/>
              </a:rPr>
              <a:t>Preprocessing, scaling, feature selection, and outlier thresholds are fitted on training folds only.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343400"/>
            <a:ext cx="10332720" cy="731520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r>
              <a:rPr sz="1800" b="1">
                <a:solidFill>
                  <a:srgbClr val="142341"/>
                </a:solidFill>
                <a:latin typeface="Aptos"/>
              </a:rPr>
              <a:t>The test set is kept aside until the final comparison, providing a more honest estimate of performance on unseen trips.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r>
              <a:rPr sz="1000" b="1">
                <a:solidFill>
                  <a:srgbClr val="239B91"/>
                </a:solidFill>
                <a:latin typeface="Aptos"/>
              </a:rPr>
              <a:t>07 • RIDGE REGRESSION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85800"/>
            <a:ext cx="10972800" cy="594360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r>
              <a:rPr sz="2800" b="1">
                <a:solidFill>
                  <a:srgbClr val="142341"/>
                </a:solidFill>
                <a:latin typeface="Aptos"/>
              </a:rPr>
              <a:t>Model and hyperparameter tuning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53312"/>
            <a:ext cx="822960" cy="54864"/>
          </a:xfrm>
          <a:prstGeom prst="rect">
            <a:avLst/>
          </a:prstGeom>
          <a:solidFill>
            <a:srgbClr val="23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783080"/>
            <a:ext cx="4754880" cy="457200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r>
              <a:rPr sz="2000" b="1">
                <a:solidFill>
                  <a:srgbClr val="142341"/>
                </a:solidFill>
                <a:latin typeface="Aptos"/>
              </a:rPr>
              <a:t>Baseline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4754880" cy="822960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r>
              <a:rPr sz="1700" b="0">
                <a:solidFill>
                  <a:srgbClr val="2D3441"/>
                </a:solidFill>
                <a:latin typeface="Aptos"/>
              </a:rPr>
              <a:t>Linear Regression provides a reference score before tuning.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783080"/>
            <a:ext cx="4754880" cy="457200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r>
              <a:rPr sz="2000" b="1">
                <a:solidFill>
                  <a:srgbClr val="142341"/>
                </a:solidFill>
                <a:latin typeface="Aptos"/>
              </a:rPr>
              <a:t>Tuned 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2286000"/>
            <a:ext cx="4937760" cy="914400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r>
              <a:rPr sz="1700" b="0">
                <a:solidFill>
                  <a:srgbClr val="2D3441"/>
                </a:solidFill>
                <a:latin typeface="Aptos"/>
              </a:rPr>
              <a:t>Ridge Regression is tuned with RandomizedSearchCV, searching different values of alpha (regularization strength).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3886200"/>
            <a:ext cx="4846320" cy="1325880"/>
          </a:xfrm>
          <a:prstGeom prst="roundRect">
            <a:avLst/>
          </a:prstGeom>
          <a:solidFill>
            <a:srgbClr val="EFF4FA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" y="3886200"/>
            <a:ext cx="73152" cy="1325880"/>
          </a:xfrm>
          <a:prstGeom prst="rect">
            <a:avLst/>
          </a:prstGeom>
          <a:solidFill>
            <a:srgbClr val="23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24128" y="4050791"/>
            <a:ext cx="4480559" cy="347472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r>
              <a:rPr sz="1700" b="1">
                <a:solidFill>
                  <a:srgbClr val="142341"/>
                </a:solidFill>
                <a:latin typeface="Aptos"/>
              </a:rPr>
              <a:t>Best alpha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" y="4498848"/>
            <a:ext cx="4480559" cy="594359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r>
              <a:rPr sz="1300" b="0">
                <a:solidFill>
                  <a:srgbClr val="2D3441"/>
                </a:solidFill>
                <a:latin typeface="Aptos"/>
              </a:rPr>
              <a:t>754.312 (approximately 754.3)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3886200"/>
            <a:ext cx="4846320" cy="1325880"/>
          </a:xfrm>
          <a:prstGeom prst="roundRect">
            <a:avLst/>
          </a:prstGeom>
          <a:solidFill>
            <a:srgbClr val="EFF4FA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3886200"/>
            <a:ext cx="73152" cy="1325880"/>
          </a:xfrm>
          <a:prstGeom prst="rect">
            <a:avLst/>
          </a:prstGeom>
          <a:solidFill>
            <a:srgbClr val="2D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19088" y="4050791"/>
            <a:ext cx="4480559" cy="347472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r>
              <a:rPr sz="1700" b="1">
                <a:solidFill>
                  <a:srgbClr val="142341"/>
                </a:solidFill>
                <a:latin typeface="Aptos"/>
              </a:rPr>
              <a:t>Best cross-validation MAE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9088" y="4498848"/>
            <a:ext cx="4480559" cy="594359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r>
              <a:rPr sz="1300" b="0">
                <a:solidFill>
                  <a:srgbClr val="2D3441"/>
                </a:solidFill>
                <a:latin typeface="Aptos"/>
              </a:rPr>
              <a:t>2.945 dollars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532120"/>
            <a:ext cx="10424160" cy="457200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r>
              <a:rPr sz="1500" b="0">
                <a:solidFill>
                  <a:srgbClr val="646E7D"/>
                </a:solidFill>
                <a:latin typeface="Aptos"/>
              </a:rPr>
              <a:t>Ridge adds a penalty to large coefficients; alpha controls the strength of that penalty.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r>
              <a:rPr sz="1000" b="1">
                <a:solidFill>
                  <a:srgbClr val="239B91"/>
                </a:solidFill>
                <a:latin typeface="Aptos"/>
              </a:rPr>
              <a:t>08 • TEST-SET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85800"/>
            <a:ext cx="10972800" cy="594360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r>
              <a:rPr sz="2800" b="1">
                <a:solidFill>
                  <a:srgbClr val="142341"/>
                </a:solidFill>
                <a:latin typeface="Aptos"/>
              </a:rPr>
              <a:t>Results: baseline vs. tuned model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53312"/>
            <a:ext cx="822960" cy="54864"/>
          </a:xfrm>
          <a:prstGeom prst="rect">
            <a:avLst/>
          </a:prstGeom>
          <a:solidFill>
            <a:srgbClr val="23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22960" y="1828800"/>
          <a:ext cx="10515600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2011680"/>
                <a:gridCol w="2011680"/>
                <a:gridCol w="2377440"/>
              </a:tblGrid>
              <a:tr h="514350"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Model</a:t>
                      </a:r>
                    </a:p>
                  </a:txBody>
                  <a:tcPr marL="109728" marR="73152" anchor="ctr">
                    <a:solidFill>
                      <a:srgbClr val="1423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MAE ($)</a:t>
                      </a:r>
                    </a:p>
                  </a:txBody>
                  <a:tcPr marL="109728" marR="73152" anchor="ctr">
                    <a:solidFill>
                      <a:srgbClr val="1423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RMSE ($)</a:t>
                      </a:r>
                    </a:p>
                  </a:txBody>
                  <a:tcPr marL="109728" marR="73152" anchor="ctr">
                    <a:solidFill>
                      <a:srgbClr val="1423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R²</a:t>
                      </a:r>
                    </a:p>
                  </a:txBody>
                  <a:tcPr marL="109728" marR="73152" anchor="ctr">
                    <a:solidFill>
                      <a:srgbClr val="142341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>
                        <a:defRPr sz="1500" b="1">
                          <a:solidFill>
                            <a:srgbClr val="2D3441"/>
                          </a:solidFill>
                          <a:latin typeface="Aptos"/>
                        </a:defRPr>
                      </a:pPr>
                      <a:r>
                        <a:t>Baseline: Linear Regression</a:t>
                      </a:r>
                    </a:p>
                  </a:txBody>
                  <a:tcPr marL="109728" marR="73152" anchor="ctr">
                    <a:solidFill>
                      <a:srgbClr val="EFF4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2D3441"/>
                          </a:solidFill>
                          <a:latin typeface="Aptos"/>
                        </a:defRPr>
                      </a:pPr>
                      <a:r>
                        <a:t>2.945</a:t>
                      </a:r>
                    </a:p>
                  </a:txBody>
                  <a:tcPr marL="109728" marR="73152" anchor="ctr">
                    <a:solidFill>
                      <a:srgbClr val="EFF4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2D3441"/>
                          </a:solidFill>
                          <a:latin typeface="Aptos"/>
                        </a:defRPr>
                      </a:pPr>
                      <a:r>
                        <a:t>6.615</a:t>
                      </a:r>
                    </a:p>
                  </a:txBody>
                  <a:tcPr marL="109728" marR="73152" anchor="ctr">
                    <a:solidFill>
                      <a:srgbClr val="EFF4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2D3441"/>
                          </a:solidFill>
                          <a:latin typeface="Aptos"/>
                        </a:defRPr>
                      </a:pPr>
                      <a:r>
                        <a:t>0.483</a:t>
                      </a:r>
                    </a:p>
                  </a:txBody>
                  <a:tcPr marL="109728" marR="73152" anchor="ctr">
                    <a:solidFill>
                      <a:srgbClr val="EFF4FA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>
                        <a:defRPr sz="1500" b="1">
                          <a:solidFill>
                            <a:srgbClr val="2D3441"/>
                          </a:solidFill>
                          <a:latin typeface="Aptos"/>
                        </a:defRPr>
                      </a:pPr>
                      <a:r>
                        <a:t>Tuned: Ridge Regression</a:t>
                      </a:r>
                    </a:p>
                  </a:txBody>
                  <a:tcPr marL="109728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2D3441"/>
                          </a:solidFill>
                          <a:latin typeface="Aptos"/>
                        </a:defRPr>
                      </a:pPr>
                      <a:r>
                        <a:t>2.940</a:t>
                      </a:r>
                    </a:p>
                  </a:txBody>
                  <a:tcPr marL="109728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2D3441"/>
                          </a:solidFill>
                          <a:latin typeface="Aptos"/>
                        </a:defRPr>
                      </a:pPr>
                      <a:r>
                        <a:t>6.572</a:t>
                      </a:r>
                    </a:p>
                  </a:txBody>
                  <a:tcPr marL="109728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2D3441"/>
                          </a:solidFill>
                          <a:latin typeface="Aptos"/>
                        </a:defRPr>
                      </a:pPr>
                      <a:r>
                        <a:t>0.490</a:t>
                      </a:r>
                    </a:p>
                  </a:txBody>
                  <a:tcPr marL="109728" marR="73152" anchor="ctr"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>
                        <a:defRPr sz="1500" b="1">
                          <a:solidFill>
                            <a:srgbClr val="2D3441"/>
                          </a:solidFill>
                          <a:latin typeface="Aptos"/>
                        </a:defRPr>
                      </a:pPr>
                      <a:r>
                        <a:t>Change</a:t>
                      </a:r>
                    </a:p>
                  </a:txBody>
                  <a:tcPr marL="109728" marR="73152" anchor="ctr">
                    <a:solidFill>
                      <a:srgbClr val="EFF4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2D3441"/>
                          </a:solidFill>
                          <a:latin typeface="Aptos"/>
                        </a:defRPr>
                      </a:pPr>
                      <a:r>
                        <a:t>−0.005</a:t>
                      </a:r>
                    </a:p>
                  </a:txBody>
                  <a:tcPr marL="109728" marR="73152" anchor="ctr">
                    <a:solidFill>
                      <a:srgbClr val="EFF4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2D3441"/>
                          </a:solidFill>
                          <a:latin typeface="Aptos"/>
                        </a:defRPr>
                      </a:pPr>
                      <a:r>
                        <a:t>−0.043</a:t>
                      </a:r>
                    </a:p>
                  </a:txBody>
                  <a:tcPr marL="109728" marR="73152" anchor="ctr">
                    <a:solidFill>
                      <a:srgbClr val="EFF4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2D3441"/>
                          </a:solidFill>
                          <a:latin typeface="Aptos"/>
                        </a:defRPr>
                      </a:pPr>
                      <a:r>
                        <a:t>+0.007</a:t>
                      </a:r>
                    </a:p>
                  </a:txBody>
                  <a:tcPr marL="109728" marR="73152" anchor="ctr">
                    <a:solidFill>
                      <a:srgbClr val="EFF4FA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68680" y="4343400"/>
            <a:ext cx="10424160" cy="457200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r>
              <a:rPr sz="1800" b="1">
                <a:solidFill>
                  <a:srgbClr val="142341"/>
                </a:solidFill>
                <a:latin typeface="Aptos"/>
              </a:rPr>
              <a:t>How to interpret the metrics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4754880"/>
            <a:ext cx="10424160" cy="12344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D3441"/>
                </a:solidFill>
                <a:latin typeface="Aptos"/>
              </a:defRPr>
            </a:pPr>
            <a:r>
              <a:t>MAE: average absolute prediction error, in dollars.</a:t>
            </a:r>
          </a:p>
          <a:p>
            <a:pPr>
              <a:spcAft>
                <a:spcPts val="400"/>
              </a:spcAft>
              <a:defRPr sz="1500">
                <a:solidFill>
                  <a:srgbClr val="2D3441"/>
                </a:solidFill>
                <a:latin typeface="Aptos"/>
              </a:defRPr>
            </a:pPr>
            <a:r>
              <a:t>RMSE: gives more weight to larger prediction errors.</a:t>
            </a:r>
          </a:p>
          <a:p>
            <a:pPr>
              <a:spcAft>
                <a:spcPts val="400"/>
              </a:spcAft>
              <a:defRPr sz="1500">
                <a:solidFill>
                  <a:srgbClr val="2D3441"/>
                </a:solidFill>
                <a:latin typeface="Aptos"/>
              </a:defRPr>
            </a:pPr>
            <a:r>
              <a:t>R²: proportion of target variation explained by the model.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6080760"/>
            <a:ext cx="10424160" cy="228600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r>
              <a:rPr sz="1200" b="1">
                <a:solidFill>
                  <a:srgbClr val="646E7D"/>
                </a:solidFill>
                <a:latin typeface="Aptos"/>
              </a:rPr>
              <a:t>The tuned model improves the metrics slightly; the overall gain is modest.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r>
              <a:rPr sz="1000" b="1">
                <a:solidFill>
                  <a:srgbClr val="239B91"/>
                </a:solidFill>
                <a:latin typeface="Aptos"/>
              </a:rPr>
              <a:t>09 •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85800"/>
            <a:ext cx="10972800" cy="594360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r>
              <a:rPr sz="2800" b="1">
                <a:solidFill>
                  <a:srgbClr val="142341"/>
                </a:solidFill>
                <a:latin typeface="Aptos"/>
              </a:rPr>
              <a:t>Final deliverable and next steps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53312"/>
            <a:ext cx="822960" cy="54864"/>
          </a:xfrm>
          <a:prstGeom prst="rect">
            <a:avLst/>
          </a:prstGeom>
          <a:solidFill>
            <a:srgbClr val="23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1737360"/>
            <a:ext cx="5074920" cy="1828800"/>
          </a:xfrm>
          <a:prstGeom prst="roundRect">
            <a:avLst/>
          </a:prstGeom>
          <a:solidFill>
            <a:srgbClr val="EFF4FA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37360"/>
            <a:ext cx="73152" cy="1828800"/>
          </a:xfrm>
          <a:prstGeom prst="rect">
            <a:avLst/>
          </a:prstGeom>
          <a:solidFill>
            <a:srgbClr val="23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8408" y="1901952"/>
            <a:ext cx="4709159" cy="347472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r>
              <a:rPr sz="1700" b="1">
                <a:solidFill>
                  <a:srgbClr val="142341"/>
                </a:solidFill>
                <a:latin typeface="Aptos"/>
              </a:rPr>
              <a:t>Saved model pipeline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8408" y="2350008"/>
            <a:ext cx="4709159" cy="1097280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r>
              <a:rPr sz="1300" b="0">
                <a:solidFill>
                  <a:srgbClr val="2D3441"/>
                </a:solidFill>
                <a:latin typeface="Aptos"/>
              </a:rPr>
              <a:t>fare_prediction_pipeline.joblib
Contains preprocessing, feature selection, and the tuned regression model.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737360"/>
            <a:ext cx="5074920" cy="1828800"/>
          </a:xfrm>
          <a:prstGeom prst="roundRect">
            <a:avLst/>
          </a:prstGeom>
          <a:solidFill>
            <a:srgbClr val="EFF4FA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63640" y="1737360"/>
            <a:ext cx="73152" cy="1828800"/>
          </a:xfrm>
          <a:prstGeom prst="rect">
            <a:avLst/>
          </a:prstGeom>
          <a:solidFill>
            <a:srgbClr val="2D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64807" y="1901952"/>
            <a:ext cx="4709159" cy="347472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r>
              <a:rPr sz="1700" b="1">
                <a:solidFill>
                  <a:srgbClr val="142341"/>
                </a:solidFill>
                <a:latin typeface="Aptos"/>
              </a:rPr>
              <a:t>What I learned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64807" y="2350008"/>
            <a:ext cx="4709159" cy="1097280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r>
              <a:rPr sz="1300" b="0">
                <a:solidFill>
                  <a:srgbClr val="2D3441"/>
                </a:solidFill>
                <a:latin typeface="Aptos"/>
              </a:rPr>
              <a:t>A model's quality depends on cleaning, useful features, correct evaluation, and leakage prevention—not only on the algorithm.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069080"/>
            <a:ext cx="10424160" cy="411480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r>
              <a:rPr sz="1900" b="1">
                <a:solidFill>
                  <a:srgbClr val="142341"/>
                </a:solidFill>
                <a:latin typeface="Aptos"/>
              </a:rPr>
              <a:t>Possible improvements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526280"/>
            <a:ext cx="10515600" cy="1325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2D3441"/>
                </a:solidFill>
                <a:latin typeface="Aptos"/>
              </a:defRPr>
            </a:pPr>
            <a:r>
              <a:t>Try a Random Forest model to capture non-linear fare patterns.</a:t>
            </a:r>
          </a:p>
          <a:p>
            <a:pPr>
              <a:spcAft>
                <a:spcPts val="600"/>
              </a:spcAft>
              <a:defRPr sz="1600">
                <a:solidFill>
                  <a:srgbClr val="2D3441"/>
                </a:solidFill>
                <a:latin typeface="Aptos"/>
              </a:defRPr>
            </a:pPr>
            <a:r>
              <a:t>Test target/frequency encoding for weather.</a:t>
            </a:r>
          </a:p>
          <a:p>
            <a:pPr>
              <a:spcAft>
                <a:spcPts val="600"/>
              </a:spcAft>
              <a:defRPr sz="1600">
                <a:solidFill>
                  <a:srgbClr val="2D3441"/>
                </a:solidFill>
                <a:latin typeface="Aptos"/>
              </a:defRPr>
            </a:pPr>
            <a:r>
              <a:t>Add trip duration if it can be estimated reliably.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5989320"/>
            <a:ext cx="10424160" cy="320040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r>
              <a:rPr sz="1800" b="1">
                <a:solidFill>
                  <a:srgbClr val="239B91"/>
                </a:solidFill>
                <a:latin typeface="Aptos"/>
              </a:rPr>
              <a:t>Thank you •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